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Economica"/>
      <p:regular r:id="rId10"/>
      <p:bold r:id="rId11"/>
      <p:italic r:id="rId12"/>
      <p:boldItalic r:id="rId13"/>
    </p:embeddedFont>
    <p:embeddedFont>
      <p:font typeface="Open Sans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Economica-bold.fntdata"/><Relationship Id="rId10" Type="http://schemas.openxmlformats.org/officeDocument/2006/relationships/font" Target="fonts/Economica-regular.fntdata"/><Relationship Id="rId13" Type="http://schemas.openxmlformats.org/officeDocument/2006/relationships/font" Target="fonts/Economica-boldItalic.fntdata"/><Relationship Id="rId12" Type="http://schemas.openxmlformats.org/officeDocument/2006/relationships/font" Target="fonts/Economica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OpenSans-bold.fntdata"/><Relationship Id="rId14" Type="http://schemas.openxmlformats.org/officeDocument/2006/relationships/font" Target="fonts/OpenSans-regular.fntdata"/><Relationship Id="rId17" Type="http://schemas.openxmlformats.org/officeDocument/2006/relationships/font" Target="fonts/OpenSans-boldItalic.fntdata"/><Relationship Id="rId16" Type="http://schemas.openxmlformats.org/officeDocument/2006/relationships/font" Target="fonts/Open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75840b108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75840b108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5840b108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5840b108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75840b1085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75840b1085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ctrTitle"/>
          </p:nvPr>
        </p:nvSpPr>
        <p:spPr>
          <a:xfrm>
            <a:off x="3044700" y="1119001"/>
            <a:ext cx="3054600" cy="1142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Lesekretsen</a:t>
            </a:r>
            <a:endParaRPr/>
          </a:p>
        </p:txBody>
      </p:sp>
      <p:sp>
        <p:nvSpPr>
          <p:cNvPr id="63" name="Google Shape;63;p13"/>
          <p:cNvSpPr txBox="1"/>
          <p:nvPr>
            <p:ph idx="1" type="subTitle"/>
          </p:nvPr>
        </p:nvSpPr>
        <p:spPr>
          <a:xfrm>
            <a:off x="3133175" y="29269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Leseglede for lesehesten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title"/>
          </p:nvPr>
        </p:nvSpPr>
        <p:spPr>
          <a:xfrm>
            <a:off x="303425" y="196450"/>
            <a:ext cx="4045200" cy="811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Lesekretsen </a:t>
            </a:r>
            <a:r>
              <a:rPr lang="en"/>
              <a:t>tilbyr:</a:t>
            </a:r>
            <a:endParaRPr/>
          </a:p>
        </p:txBody>
      </p:sp>
      <p:sp>
        <p:nvSpPr>
          <p:cNvPr id="69" name="Google Shape;69;p14"/>
          <p:cNvSpPr txBox="1"/>
          <p:nvPr>
            <p:ph idx="1" type="subTitle"/>
          </p:nvPr>
        </p:nvSpPr>
        <p:spPr>
          <a:xfrm>
            <a:off x="4903500" y="714600"/>
            <a:ext cx="4045200" cy="367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73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Sosial lesetjeneste for lesesirkler</a:t>
            </a:r>
            <a:endParaRPr sz="2500"/>
          </a:p>
          <a:p>
            <a:pPr indent="-3873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Digitale og fysiske produkter (e-bøker, lydbøker, fysiske bøker)</a:t>
            </a:r>
            <a:endParaRPr sz="2500"/>
          </a:p>
          <a:p>
            <a:pPr indent="-3873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Abonnement på bokpakker</a:t>
            </a:r>
            <a:endParaRPr sz="2500"/>
          </a:p>
          <a:p>
            <a:pPr indent="-3873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Anbefalingssystem (tidligere lest, interesser, sjanger, osv.)</a:t>
            </a:r>
            <a:endParaRPr sz="2500"/>
          </a:p>
        </p:txBody>
      </p:sp>
      <p:pic>
        <p:nvPicPr>
          <p:cNvPr id="70" name="Google Shape;70;p14" title="DALL·E 2025-08-18 12.42.04 - A sepia-toned, realistic and elegant logo-style image representing a social platform for book clubs. The composition features a balanced arrangement o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400" y="1235025"/>
            <a:ext cx="3819251" cy="3819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>
            <a:off x="265500" y="1711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Markedsføring: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5"/>
          <p:cNvSpPr txBox="1"/>
          <p:nvPr>
            <p:ph idx="2" type="body"/>
          </p:nvPr>
        </p:nvSpPr>
        <p:spPr>
          <a:xfrm>
            <a:off x="4939500" y="171175"/>
            <a:ext cx="3837000" cy="468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57346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28"/>
              <a:buFont typeface="Economica"/>
              <a:buChar char="●"/>
            </a:pPr>
            <a:r>
              <a:rPr lang="en" sz="2027">
                <a:latin typeface="Economica"/>
                <a:ea typeface="Economica"/>
                <a:cs typeface="Economica"/>
                <a:sym typeface="Economica"/>
              </a:rPr>
              <a:t>Samarbeid med bibliotek.</a:t>
            </a:r>
            <a:endParaRPr sz="2027">
              <a:latin typeface="Economica"/>
              <a:ea typeface="Economica"/>
              <a:cs typeface="Economica"/>
              <a:sym typeface="Economica"/>
            </a:endParaRPr>
          </a:p>
          <a:p>
            <a:pPr indent="-357346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28"/>
              <a:buFont typeface="Economica"/>
              <a:buChar char="●"/>
            </a:pPr>
            <a:r>
              <a:rPr lang="en" sz="2027">
                <a:latin typeface="Economica"/>
                <a:ea typeface="Economica"/>
                <a:cs typeface="Economica"/>
                <a:sym typeface="Economica"/>
              </a:rPr>
              <a:t>Synlighet i sosiale medier. Bokrelaterte </a:t>
            </a:r>
            <a:r>
              <a:rPr lang="en" sz="2027">
                <a:latin typeface="Economica"/>
                <a:ea typeface="Economica"/>
                <a:cs typeface="Economica"/>
                <a:sym typeface="Economica"/>
              </a:rPr>
              <a:t>plattformer</a:t>
            </a:r>
            <a:r>
              <a:rPr lang="en" sz="2027">
                <a:latin typeface="Economica"/>
                <a:ea typeface="Economica"/>
                <a:cs typeface="Economica"/>
                <a:sym typeface="Economica"/>
              </a:rPr>
              <a:t> som “BokTok” på TikTok, Instagram, Snapchat og Facebook.</a:t>
            </a:r>
            <a:endParaRPr sz="2027">
              <a:latin typeface="Economica"/>
              <a:ea typeface="Economica"/>
              <a:cs typeface="Economica"/>
              <a:sym typeface="Economica"/>
            </a:endParaRPr>
          </a:p>
          <a:p>
            <a:pPr indent="-357346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28"/>
              <a:buFont typeface="Economica"/>
              <a:buChar char="●"/>
            </a:pPr>
            <a:r>
              <a:rPr lang="en" sz="2027">
                <a:latin typeface="Economica"/>
                <a:ea typeface="Economica"/>
                <a:cs typeface="Economica"/>
                <a:sym typeface="Economica"/>
              </a:rPr>
              <a:t>Samarbeid med bookbloggere og influencers som tester og omtaler tjenesten</a:t>
            </a:r>
            <a:endParaRPr sz="2027">
              <a:latin typeface="Economica"/>
              <a:ea typeface="Economica"/>
              <a:cs typeface="Economica"/>
              <a:sym typeface="Economica"/>
            </a:endParaRPr>
          </a:p>
          <a:p>
            <a:pPr indent="-357346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28"/>
              <a:buFont typeface="Economica"/>
              <a:buChar char="●"/>
            </a:pPr>
            <a:r>
              <a:rPr lang="en" sz="2027">
                <a:latin typeface="Economica"/>
                <a:ea typeface="Economica"/>
                <a:cs typeface="Economica"/>
                <a:sym typeface="Economica"/>
              </a:rPr>
              <a:t>Intro-tilbud, “Verve en venn”-kampanjer</a:t>
            </a:r>
            <a:endParaRPr sz="2027">
              <a:latin typeface="Economica"/>
              <a:ea typeface="Economica"/>
              <a:cs typeface="Economica"/>
              <a:sym typeface="Economica"/>
            </a:endParaRPr>
          </a:p>
        </p:txBody>
      </p:sp>
      <p:pic>
        <p:nvPicPr>
          <p:cNvPr id="77" name="Google Shape;77;p15" title="DALL·E 2025-08-18 12.47.03 - A sepia-toned, realistic and elegant image in a vintage-inspired style, depicting a marketing plan in progress. The scene shows a wooden desk with sca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9525" y="1442425"/>
            <a:ext cx="3417149" cy="3417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type="title"/>
          </p:nvPr>
        </p:nvSpPr>
        <p:spPr>
          <a:xfrm>
            <a:off x="311700" y="480200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Roller: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 u="sng">
                <a:latin typeface="Economica"/>
                <a:ea typeface="Economica"/>
                <a:cs typeface="Economica"/>
                <a:sym typeface="Economica"/>
              </a:rPr>
              <a:t>Daglig leder/Teknisk ansvarlig:</a:t>
            </a:r>
            <a:r>
              <a:rPr lang="en" sz="2000">
                <a:latin typeface="Economica"/>
                <a:ea typeface="Economica"/>
                <a:cs typeface="Economica"/>
                <a:sym typeface="Economica"/>
              </a:rPr>
              <a:t> Økonomi, daglig drift og vedlikehold av den digitale plattformen.</a:t>
            </a:r>
            <a:endParaRPr sz="2000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b="1" lang="en" sz="2000" u="sng">
                <a:latin typeface="Economica"/>
                <a:ea typeface="Economica"/>
                <a:cs typeface="Economica"/>
                <a:sym typeface="Economica"/>
              </a:rPr>
              <a:t>Markedsføring- og innholdsansvarlig:</a:t>
            </a:r>
            <a:r>
              <a:rPr lang="en" sz="2000">
                <a:latin typeface="Economica"/>
                <a:ea typeface="Economica"/>
                <a:cs typeface="Economica"/>
                <a:sym typeface="Economica"/>
              </a:rPr>
              <a:t> Lager innhold, annonser og kampanjer på sosiale medier. Vedlikehold av katalogen.</a:t>
            </a:r>
            <a:br>
              <a:rPr lang="en" sz="2000">
                <a:latin typeface="Economica"/>
                <a:ea typeface="Economica"/>
                <a:cs typeface="Economica"/>
                <a:sym typeface="Economica"/>
              </a:rPr>
            </a:br>
            <a:r>
              <a:rPr b="1" lang="en" sz="2000" u="sng">
                <a:latin typeface="Economica"/>
                <a:ea typeface="Economica"/>
                <a:cs typeface="Economica"/>
                <a:sym typeface="Economica"/>
              </a:rPr>
              <a:t>Kundeservice/brukeransvarlig:</a:t>
            </a:r>
            <a:r>
              <a:rPr b="1" lang="en" sz="2000">
                <a:latin typeface="Economica"/>
                <a:ea typeface="Economica"/>
                <a:cs typeface="Economica"/>
                <a:sym typeface="Economica"/>
              </a:rPr>
              <a:t> </a:t>
            </a:r>
            <a:r>
              <a:rPr lang="en" sz="2000">
                <a:latin typeface="Economica"/>
                <a:ea typeface="Economica"/>
                <a:cs typeface="Economica"/>
                <a:sym typeface="Economica"/>
              </a:rPr>
              <a:t>Setter sammen bokpakker, følger opp kundene og hjelper lesesirkler i gang.</a:t>
            </a:r>
            <a:endParaRPr sz="2000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